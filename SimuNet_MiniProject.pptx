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j9JSAHPpssftWFbj0WHSN2iZ2d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2A330F-DEE9-4D1F-BEE3-EFBD71CC9FD9}">
  <a:tblStyle styleId="{702A330F-DEE9-4D1F-BEE3-EFBD71CC9FD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1c8a05ef2b1176b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h1c8a05ef2b1176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1c8a05ef2b1176b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h1c8a05ef2b1176b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c8a05ef2b1176b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c8a05ef2b1176b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1c8a05ef2b1176b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h1c8a05ef2b1176b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1c8a05ef2b1176b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h1c8a05ef2b1176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1c8a05ef2b1176b4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h1c8a05ef2b1176b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1c8a05ef2b1176b4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h1c8a05ef2b1176b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rive.google.com/file/d/1LhM12-2G5vbsW8DanTHfnb_VI5pVkP7n/view" TargetMode="External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1080000">
            <a:off x="8778240" y="-1097280"/>
            <a:ext cx="5486400" cy="5486400"/>
          </a:xfrm>
          <a:prstGeom prst="roundRect">
            <a:avLst>
              <a:gd fmla="val 50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 rot="-720000">
            <a:off x="-1463040" y="4572000"/>
            <a:ext cx="4114800" cy="4114800"/>
          </a:xfrm>
          <a:prstGeom prst="roundRect">
            <a:avLst>
              <a:gd fmla="val 50000" name="adj"/>
            </a:avLst>
          </a:prstGeom>
          <a:solidFill>
            <a:srgbClr val="1E2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MCA MINI PROJECT  ·  2025–26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22960" y="19659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SimuNet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22960" y="288036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API Chaos Engineering &amp; Load Testing Platform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822960" y="3429000"/>
            <a:ext cx="8961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Web-Based Concurrent Load Generation and Real-Time Telemetry Framework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822960" y="4343400"/>
            <a:ext cx="10515600" cy="1737360"/>
          </a:xfrm>
          <a:prstGeom prst="roundRect">
            <a:avLst>
              <a:gd fmla="val 8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143000" y="455371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143000" y="48646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Stephin Siby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143000" y="525780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Roll No: 51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Dept. of Computer Applications (MCA)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309360" y="455371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UNDER THE GUIDANCE OF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6309360" y="486460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Ms. Athira R Kurup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6309360" y="5257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Assistant Professor, Department of Computer Applications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Executive Abstract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548640" y="1600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SimuNet reimagines API load and resilience testing as a lightweight, browser-native experience — replacing heavyweight desktop tools with a real-time, shareable engineering console.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548640" y="2697480"/>
            <a:ext cx="5257800" cy="3108960"/>
          </a:xfrm>
          <a:prstGeom prst="roundRect">
            <a:avLst>
              <a:gd fmla="val 6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868680" y="297180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554480" y="2999232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From Desktop to Browser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868680" y="3611880"/>
            <a:ext cx="4663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Replaces heavy tools like JMeter and Postman with a zero-install web dashboard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Accessible from any device — no local setup, no licence files, no bulky JVM overhead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Test sessions are shareable via a link, enabling instant team collaboration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6355080" y="2697480"/>
            <a:ext cx="5257800" cy="3108960"/>
          </a:xfrm>
          <a:prstGeom prst="roundRect">
            <a:avLst>
              <a:gd fmla="val 6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675120" y="29718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7360920" y="2999232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Concurrency + Chaos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6675120" y="3611880"/>
            <a:ext cx="4663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Simulates thousands of concurrent virtual users using Node.js worker threads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Injects artificial latency and fault conditions to test system resilience under chaos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Streams live metrics over WebSockets instead of static, post-test log files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02 / 15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Problem Statement &amp; Industry Need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Challenges with Current Tools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48640" y="2011680"/>
            <a:ext cx="54864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High learning curve —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steep onboarding for JMeter's XML-based test plans and Postman's manual collection runs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Heavy desktop memory footprint —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JVM-based tools consume large amounts of local RAM/CPU during simulated load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Static, post-test logs —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results are only visible after a run completes, with no live feedback loop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Lack of instant sharing —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test configurations and results are trapped in local files, not links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400800" y="1554480"/>
            <a:ext cx="5212080" cy="4434840"/>
          </a:xfrm>
          <a:prstGeom prst="roundRect">
            <a:avLst>
              <a:gd fmla="val 6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6720840" y="1783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6720840" y="2240280"/>
            <a:ext cx="4572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Servers routinely fail under unpredictable traffic spikes — flash sales, viral campaigns, or sudden API demand — often because teams never simulated realistic concurrent load before deployment.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6720840" y="38404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REAL-WORLD TRIGGER SCENARIOS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6720840" y="4206240"/>
            <a:ext cx="4572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E-commerce flash sales causing checkout API timeouts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Unexpected viral traffic overwhelming public endpoints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Undetected bottlenecks surfacing only in production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03 / 15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548640" y="1691640"/>
            <a:ext cx="5257800" cy="2148840"/>
          </a:xfrm>
          <a:prstGeom prst="roundRect">
            <a:avLst>
              <a:gd fmla="val 7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554480" y="1984248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Browser-Based Control Dashboard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822960" y="2651760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Deliver a zero-install React interface for configuring and launching load tests entirely in the browser.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6172200" y="1691640"/>
            <a:ext cx="5257800" cy="2148840"/>
          </a:xfrm>
          <a:prstGeom prst="roundRect">
            <a:avLst>
              <a:gd fmla="val 7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7178040" y="1984248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Multi-Threaded Load Engine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6446520" y="2651760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Generate high-volume concurrent virtual users using Node.js Worker Threads for true parallel execution.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48640" y="4160520"/>
            <a:ext cx="5257800" cy="2148840"/>
          </a:xfrm>
          <a:prstGeom prst="roundRect">
            <a:avLst>
              <a:gd fmla="val 7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1554480" y="4453128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Real-Time WebSocket Telemetry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822960" y="5120640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Stream live throughput, latency, and error metrics to the dashboard via Socket.io as the test runs.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172200" y="4160520"/>
            <a:ext cx="5257800" cy="2148840"/>
          </a:xfrm>
          <a:prstGeom prst="roundRect">
            <a:avLst>
              <a:gd fmla="val 7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446520" y="44348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7178040" y="4453128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Chaos Fault Injection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6446520" y="5120640"/>
            <a:ext cx="4709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Introduce controllable artificial latency and failure conditions to validate system resilience.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04 / 15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BOUNDARIES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Project Scope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fmla="val 5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868680" y="181051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IN SCOPE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868680" y="228600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Browser-based configuration and control of load test sessions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Slider-driven control of virtual user (VU) count and ramp-up pattern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Chaos-mode artificial latency and delay injection per request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Live, auto-updating Chart.js graphs for throughput and response time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Post-run session summaries with key performance indicators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263640" y="1600200"/>
            <a:ext cx="5394960" cy="4434840"/>
          </a:xfrm>
          <a:prstGeom prst="roundRect">
            <a:avLst>
              <a:gd fmla="val 5000" name="adj"/>
            </a:avLst>
          </a:prstGeom>
          <a:solidFill>
            <a:srgbClr val="1E2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6583680" y="181051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6583680" y="228600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Multi-region distributed load generation nodes for geo-realistic testing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AI-assisted bottleneck prediction from historical telemetry patterns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Automated CI/CD pipeline plugins (GitHub Actions integration)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05 / 15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/>
          </a:p>
        </p:txBody>
      </p:sp>
      <p:graphicFrame>
        <p:nvGraphicFramePr>
          <p:cNvPr id="173" name="Google Shape;173;p6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{702A330F-DEE9-4D1F-BEE3-EFBD71CC9FD9}</a:tableStyleId>
              </a:tblPr>
              <a:tblGrid>
                <a:gridCol w="2514600"/>
                <a:gridCol w="2514600"/>
                <a:gridCol w="2514600"/>
                <a:gridCol w="3520450"/>
              </a:tblGrid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 &amp; Year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E2B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 &amp; Publication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E2B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Methodology / Tech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E2B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Findings &amp; Contribution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E2B47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Chaos Engineering for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Resilient Cloud Systems (2021)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 Basiri et al.,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Cloud Computing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Controlled fault-injection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experiments on microservices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Formalised chaos engineering principles for proactively surfacing hidden cloud failure modes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Distributed Load Testing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Scalable APIs (2022)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 Menon &amp; P. Rao,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Int. Journal of Computer Applications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Multi-node distributed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request generation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Showed horizontal scaling of load generators improves realism of high-concurrency simulations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Telemetry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Streaming Architectures (2023)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A. Fernandes et al.,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ACM SIGSOFT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Publish–subscribe pipelines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 in-memory brokers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Demonstrated sub-second metric propagation using WebSocket + in-memory buffer pipelines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Headless &amp; Browser-Based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Stress Testing GUIs (2026)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K. Iyer &amp; T. Nakamura,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Software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Browser-native dashboards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 legacy desktop clients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Found browser-first tooling reduces onboarding time and improves cross-team test sharing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6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06 / 15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Existing vs. Proposed System</a:t>
            </a:r>
            <a:endParaRPr/>
          </a:p>
        </p:txBody>
      </p:sp>
      <p:graphicFrame>
        <p:nvGraphicFramePr>
          <p:cNvPr id="182" name="Google Shape;182;p7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{702A330F-DEE9-4D1F-BEE3-EFBD71CC9FD9}</a:tableStyleId>
              </a:tblPr>
              <a:tblGrid>
                <a:gridCol w="2651750"/>
                <a:gridCol w="4206250"/>
                <a:gridCol w="4206250"/>
              </a:tblGrid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E2B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Existing Tools (JMeter / Postman)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E2B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SimuNet (Proposed)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0B981"/>
                    </a:solidFill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Deployment Type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Desktop application, local installation required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Browser-based, zero installation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Resource Utilization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local JVM / RAM &amp; CPU overhead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Lightweight — server-side worker threads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 Complexity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XML test plans / manual collection setup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Slider &amp; form-driven visual configuration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Feedback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Post-run static logs and reports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 WebSocket telemetry during the test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0F172A"/>
                    </a:solidFill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Collaboration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files, manual sharing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Shareable links, instant team visibility</a:t>
                      </a:r>
                      <a:endParaRPr/>
                    </a:p>
                  </a:txBody>
                  <a:tcPr marT="64000" marB="64000" marR="109725" marL="109725" anchor="ctr">
                    <a:solidFill>
                      <a:srgbClr val="162138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7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07 / 15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TELOS FRAMEWORK</a:t>
            </a:r>
            <a:endParaRPr/>
          </a:p>
        </p:txBody>
      </p:sp>
      <p:sp>
        <p:nvSpPr>
          <p:cNvPr id="190" name="Google Shape;190;p8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Feasibility Study</a:t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48640" y="1691640"/>
            <a:ext cx="2084831" cy="4343400"/>
          </a:xfrm>
          <a:prstGeom prst="roundRect">
            <a:avLst>
              <a:gd fmla="val 6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777240" y="2743200"/>
            <a:ext cx="162763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777240" y="3291840"/>
            <a:ext cx="1627631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Built entirely on mature, well-documented open-source technology: Node.js, React, Redis and Socket.io.</a:t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2770631" y="1691640"/>
            <a:ext cx="2084831" cy="4343400"/>
          </a:xfrm>
          <a:prstGeom prst="roundRect">
            <a:avLst>
              <a:gd fmla="val 6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999231" y="196596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2999231" y="2743200"/>
            <a:ext cx="162763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Economic</a:t>
            </a:r>
            <a:endParaRPr/>
          </a:p>
        </p:txBody>
      </p:sp>
      <p:sp>
        <p:nvSpPr>
          <p:cNvPr id="198" name="Google Shape;198;p8"/>
          <p:cNvSpPr txBox="1"/>
          <p:nvPr/>
        </p:nvSpPr>
        <p:spPr>
          <a:xfrm>
            <a:off x="2999231" y="3291840"/>
            <a:ext cx="1627631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Zero licensing cost — every component in the stack is free and open-source, minimising project budget.</a:t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992622" y="1691640"/>
            <a:ext cx="2084831" cy="4343400"/>
          </a:xfrm>
          <a:prstGeom prst="roundRect">
            <a:avLst>
              <a:gd fmla="val 6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221222" y="1965960"/>
            <a:ext cx="594360" cy="5943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5221222" y="2743200"/>
            <a:ext cx="162763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Legal &amp; Ethical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5221222" y="3291840"/>
            <a:ext cx="1627631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Chaos and load testing is confined to owned/authorised environments to prevent misuse against third-party systems.</a:t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7214613" y="1691640"/>
            <a:ext cx="2084831" cy="4343400"/>
          </a:xfrm>
          <a:prstGeom prst="roundRect">
            <a:avLst>
              <a:gd fmla="val 6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443213" y="196596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7443213" y="2743200"/>
            <a:ext cx="162763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Operational</a:t>
            </a:r>
            <a:endParaRPr/>
          </a:p>
        </p:txBody>
      </p:sp>
      <p:sp>
        <p:nvSpPr>
          <p:cNvPr id="206" name="Google Shape;206;p8"/>
          <p:cNvSpPr txBox="1"/>
          <p:nvPr/>
        </p:nvSpPr>
        <p:spPr>
          <a:xfrm>
            <a:off x="7443213" y="3291840"/>
            <a:ext cx="1627631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Simple browser access model requires no specialised training for QA or DevOps teams to adopt.</a:t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9436604" y="1691640"/>
            <a:ext cx="2084831" cy="4343400"/>
          </a:xfrm>
          <a:prstGeom prst="roundRect">
            <a:avLst>
              <a:gd fmla="val 6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9665204" y="1965960"/>
            <a:ext cx="594360" cy="5943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209" name="Google Shape;209;p8"/>
          <p:cNvSpPr txBox="1"/>
          <p:nvPr/>
        </p:nvSpPr>
        <p:spPr>
          <a:xfrm>
            <a:off x="9665204" y="2743200"/>
            <a:ext cx="162763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/>
          </a:p>
        </p:txBody>
      </p:sp>
      <p:sp>
        <p:nvSpPr>
          <p:cNvPr id="210" name="Google Shape;210;p8"/>
          <p:cNvSpPr txBox="1"/>
          <p:nvPr/>
        </p:nvSpPr>
        <p:spPr>
          <a:xfrm>
            <a:off x="9665204" y="3291840"/>
            <a:ext cx="1627631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Six-sprint Agile roadmap fits comfortably within the MCA mini-project academic timeline.</a:t>
            </a:r>
            <a:endParaRPr/>
          </a:p>
        </p:txBody>
      </p:sp>
      <p:sp>
        <p:nvSpPr>
          <p:cNvPr id="211" name="Google Shape;211;p8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212" name="Google Shape;212;p8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08 / 15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 txBox="1"/>
          <p:nvPr>
            <p:ph type="title"/>
          </p:nvPr>
        </p:nvSpPr>
        <p:spPr>
          <a:xfrm>
            <a:off x="321184" y="102675"/>
            <a:ext cx="16953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1500">
                <a:highlight>
                  <a:schemeClr val="lt1"/>
                </a:highlight>
              </a:rPr>
              <a:t>DFD LEVEL O</a:t>
            </a:r>
            <a:endParaRPr sz="1500">
              <a:highlight>
                <a:schemeClr val="lt1"/>
              </a:highlight>
            </a:endParaRPr>
          </a:p>
        </p:txBody>
      </p:sp>
      <p:pic>
        <p:nvPicPr>
          <p:cNvPr id="218" name="Google Shape;218;p9" title="01_DFD_Level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5094"/>
            <a:ext cx="11886879" cy="4846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1c8a05ef2b1176b4_0_0"/>
          <p:cNvSpPr txBox="1"/>
          <p:nvPr>
            <p:ph type="title"/>
          </p:nvPr>
        </p:nvSpPr>
        <p:spPr>
          <a:xfrm>
            <a:off x="315050" y="62172"/>
            <a:ext cx="3078300" cy="897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DFD LEVEL 1</a:t>
            </a:r>
            <a:endParaRPr sz="1500"/>
          </a:p>
        </p:txBody>
      </p:sp>
      <p:pic>
        <p:nvPicPr>
          <p:cNvPr id="224" name="Google Shape;224;h1c8a05ef2b1176b4_0_0" title="02_DFD_Level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3525" y="463325"/>
            <a:ext cx="8493527" cy="5847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1c8a05ef2b1176b4_0_4"/>
          <p:cNvSpPr txBox="1"/>
          <p:nvPr>
            <p:ph type="title"/>
          </p:nvPr>
        </p:nvSpPr>
        <p:spPr>
          <a:xfrm>
            <a:off x="279525" y="88097"/>
            <a:ext cx="2829600" cy="871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DFD LEVEL 2 LOAD ENGINE</a:t>
            </a:r>
            <a:endParaRPr sz="1500"/>
          </a:p>
        </p:txBody>
      </p:sp>
      <p:pic>
        <p:nvPicPr>
          <p:cNvPr id="230" name="Google Shape;230;h1c8a05ef2b1176b4_0_4" title="03_DFD_Level2_LoadEng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963" y="712050"/>
            <a:ext cx="8777748" cy="571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1c8a05ef2b1176b4_0_8"/>
          <p:cNvSpPr txBox="1"/>
          <p:nvPr>
            <p:ph type="title"/>
          </p:nvPr>
        </p:nvSpPr>
        <p:spPr>
          <a:xfrm>
            <a:off x="383475" y="1"/>
            <a:ext cx="3000300" cy="1221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highlight>
                  <a:schemeClr val="lt1"/>
                </a:highlight>
              </a:rPr>
              <a:t>STATE DIAGRAM</a:t>
            </a:r>
            <a:endParaRPr sz="1500">
              <a:highlight>
                <a:schemeClr val="lt1"/>
              </a:highlight>
            </a:endParaRPr>
          </a:p>
        </p:txBody>
      </p:sp>
      <p:pic>
        <p:nvPicPr>
          <p:cNvPr id="236" name="Google Shape;236;h1c8a05ef2b1176b4_0_8" title="04_State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775" y="327175"/>
            <a:ext cx="4389199" cy="6203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1c8a05ef2b1176b4_0_12"/>
          <p:cNvSpPr txBox="1"/>
          <p:nvPr>
            <p:ph type="title"/>
          </p:nvPr>
        </p:nvSpPr>
        <p:spPr>
          <a:xfrm>
            <a:off x="248750" y="203600"/>
            <a:ext cx="3724800" cy="94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CLASS DIAGRAM</a:t>
            </a:r>
            <a:endParaRPr sz="1500"/>
          </a:p>
        </p:txBody>
      </p:sp>
      <p:pic>
        <p:nvPicPr>
          <p:cNvPr id="242" name="Google Shape;242;h1c8a05ef2b1176b4_0_12" title="05_Class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5588" y="152400"/>
            <a:ext cx="5100489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1c8a05ef2b1176b4_0_16"/>
          <p:cNvSpPr txBox="1"/>
          <p:nvPr>
            <p:ph type="title"/>
          </p:nvPr>
        </p:nvSpPr>
        <p:spPr>
          <a:xfrm>
            <a:off x="267750" y="132548"/>
            <a:ext cx="3274800" cy="956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ER DIAGRAM</a:t>
            </a:r>
            <a:endParaRPr sz="1500"/>
          </a:p>
        </p:txBody>
      </p:sp>
      <p:pic>
        <p:nvPicPr>
          <p:cNvPr id="248" name="Google Shape;248;h1c8a05ef2b1176b4_0_16" title="06_ER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750" y="886323"/>
            <a:ext cx="9790182" cy="5463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"/>
          <p:cNvSpPr txBox="1"/>
          <p:nvPr>
            <p:ph type="title"/>
          </p:nvPr>
        </p:nvSpPr>
        <p:spPr>
          <a:xfrm>
            <a:off x="154100" y="123073"/>
            <a:ext cx="39948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1500"/>
              <a:t>SEQUENCE DIAGRAM</a:t>
            </a:r>
            <a:endParaRPr sz="1500"/>
          </a:p>
        </p:txBody>
      </p:sp>
      <p:pic>
        <p:nvPicPr>
          <p:cNvPr id="254" name="Google Shape;254;p10" title="07_Sequence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5625" y="152400"/>
            <a:ext cx="6220421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AGILE ENGINEERING LIFECYCLE</a:t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fmla="val 7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1371600" y="198424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SPRINT 1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1371600" y="224028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Requirements Analysis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777240" y="2834640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Gathered functional &amp; non-functional requirements from existing load-testing pain points.</a:t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4343400" y="1783080"/>
            <a:ext cx="3520440" cy="1965960"/>
          </a:xfrm>
          <a:prstGeom prst="roundRect">
            <a:avLst>
              <a:gd fmla="val 7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572000" y="20116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5166360" y="198424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SPRINT 2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5166360" y="224028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Architecture &amp; Engine Modeling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4572000" y="2834640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Designed system architecture, module boundaries, and worker-thread execution model.</a:t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8138160" y="1783080"/>
            <a:ext cx="3520440" cy="1965960"/>
          </a:xfrm>
          <a:prstGeom prst="roundRect">
            <a:avLst>
              <a:gd fmla="val 7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8366760" y="201168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8961120" y="198424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SPRINT 3</a:t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8961120" y="224028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Load Generation Engine</a:t>
            </a:r>
            <a:endParaRPr/>
          </a:p>
        </p:txBody>
      </p:sp>
      <p:sp>
        <p:nvSpPr>
          <p:cNvPr id="275" name="Google Shape;275;p11"/>
          <p:cNvSpPr txBox="1"/>
          <p:nvPr/>
        </p:nvSpPr>
        <p:spPr>
          <a:xfrm>
            <a:off x="8366760" y="2834640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Implemented the concurrent request engine using Node.js Worker Threads.</a:t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fmla="val 7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78" name="Google Shape;278;p11"/>
          <p:cNvSpPr txBox="1"/>
          <p:nvPr/>
        </p:nvSpPr>
        <p:spPr>
          <a:xfrm>
            <a:off x="1371600" y="422452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SPRINT 4</a:t>
            </a:r>
            <a:endParaRPr/>
          </a:p>
        </p:txBody>
      </p:sp>
      <p:sp>
        <p:nvSpPr>
          <p:cNvPr id="279" name="Google Shape;279;p11"/>
          <p:cNvSpPr txBox="1"/>
          <p:nvPr/>
        </p:nvSpPr>
        <p:spPr>
          <a:xfrm>
            <a:off x="1371600" y="44805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Telemetry Pipeline</a:t>
            </a:r>
            <a:endParaRPr/>
          </a:p>
        </p:txBody>
      </p:sp>
      <p:sp>
        <p:nvSpPr>
          <p:cNvPr id="280" name="Google Shape;280;p11"/>
          <p:cNvSpPr txBox="1"/>
          <p:nvPr/>
        </p:nvSpPr>
        <p:spPr>
          <a:xfrm>
            <a:off x="777240" y="5074920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Built the Redis-backed metrics pipeline streamed live via WebSockets.</a:t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4343400" y="4023360"/>
            <a:ext cx="3520440" cy="1965960"/>
          </a:xfrm>
          <a:prstGeom prst="roundRect">
            <a:avLst>
              <a:gd fmla="val 7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572000" y="425196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83" name="Google Shape;283;p11"/>
          <p:cNvSpPr txBox="1"/>
          <p:nvPr/>
        </p:nvSpPr>
        <p:spPr>
          <a:xfrm>
            <a:off x="5166360" y="422452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SPRINT 5</a:t>
            </a:r>
            <a:endParaRPr/>
          </a:p>
        </p:txBody>
      </p:sp>
      <p:sp>
        <p:nvSpPr>
          <p:cNvPr id="284" name="Google Shape;284;p11"/>
          <p:cNvSpPr txBox="1"/>
          <p:nvPr/>
        </p:nvSpPr>
        <p:spPr>
          <a:xfrm>
            <a:off x="5166360" y="44805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Chaos Injection Module</a:t>
            </a:r>
            <a:endParaRPr/>
          </a:p>
        </p:txBody>
      </p:sp>
      <p:sp>
        <p:nvSpPr>
          <p:cNvPr id="285" name="Google Shape;285;p11"/>
          <p:cNvSpPr txBox="1"/>
          <p:nvPr/>
        </p:nvSpPr>
        <p:spPr>
          <a:xfrm>
            <a:off x="4572000" y="5074920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Added configurable latency and fault-injection logic into the request pipeline.</a:t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8138160" y="4023360"/>
            <a:ext cx="3520440" cy="1965960"/>
          </a:xfrm>
          <a:prstGeom prst="roundRect">
            <a:avLst>
              <a:gd fmla="val 7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8366760" y="42519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88" name="Google Shape;288;p11"/>
          <p:cNvSpPr txBox="1"/>
          <p:nvPr/>
        </p:nvSpPr>
        <p:spPr>
          <a:xfrm>
            <a:off x="8961120" y="422452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SPRINT 6</a:t>
            </a:r>
            <a:endParaRPr/>
          </a:p>
        </p:txBody>
      </p:sp>
      <p:sp>
        <p:nvSpPr>
          <p:cNvPr id="289" name="Google Shape;289;p11"/>
          <p:cNvSpPr txBox="1"/>
          <p:nvPr/>
        </p:nvSpPr>
        <p:spPr>
          <a:xfrm>
            <a:off x="8961120" y="44805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Benchmarking &amp; Validation</a:t>
            </a:r>
            <a:endParaRPr/>
          </a:p>
        </p:txBody>
      </p:sp>
      <p:sp>
        <p:nvSpPr>
          <p:cNvPr id="290" name="Google Shape;290;p11"/>
          <p:cNvSpPr txBox="1"/>
          <p:nvPr/>
        </p:nvSpPr>
        <p:spPr>
          <a:xfrm>
            <a:off x="8366760" y="5074920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Validated engine accuracy and dashboard responsiveness under sustained load.</a:t>
            </a:r>
            <a:endParaRPr/>
          </a:p>
        </p:txBody>
      </p:sp>
      <p:sp>
        <p:nvSpPr>
          <p:cNvPr id="291" name="Google Shape;291;p11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292" name="Google Shape;292;p11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09 / 15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/>
          </a:p>
        </p:txBody>
      </p:sp>
      <p:sp>
        <p:nvSpPr>
          <p:cNvPr id="298" name="Google Shape;298;p1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System Modules Breakdown</a:t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fmla="val 12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749808" y="1865376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01" name="Google Shape;301;p12"/>
          <p:cNvSpPr txBox="1"/>
          <p:nvPr/>
        </p:nvSpPr>
        <p:spPr>
          <a:xfrm>
            <a:off x="1463040" y="181051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User &amp; Config Management</a:t>
            </a:r>
            <a:endParaRPr/>
          </a:p>
        </p:txBody>
      </p:sp>
      <p:sp>
        <p:nvSpPr>
          <p:cNvPr id="302" name="Google Shape;302;p12"/>
          <p:cNvSpPr txBox="1"/>
          <p:nvPr/>
        </p:nvSpPr>
        <p:spPr>
          <a:xfrm>
            <a:off x="5212080" y="1810512"/>
            <a:ext cx="6172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Handles session creation, test configuration forms, and stored presets.</a:t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548640" y="2624328"/>
            <a:ext cx="11064240" cy="841248"/>
          </a:xfrm>
          <a:prstGeom prst="roundRect">
            <a:avLst>
              <a:gd fmla="val 12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749808" y="2798064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05" name="Google Shape;305;p12"/>
          <p:cNvSpPr txBox="1"/>
          <p:nvPr/>
        </p:nvSpPr>
        <p:spPr>
          <a:xfrm>
            <a:off x="1463040" y="274320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Load Generation Worker Engine</a:t>
            </a:r>
            <a:endParaRPr/>
          </a:p>
        </p:txBody>
      </p:sp>
      <p:sp>
        <p:nvSpPr>
          <p:cNvPr id="306" name="Google Shape;306;p12"/>
          <p:cNvSpPr txBox="1"/>
          <p:nvPr/>
        </p:nvSpPr>
        <p:spPr>
          <a:xfrm>
            <a:off x="5212080" y="2743200"/>
            <a:ext cx="6172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Node.js Worker Threads spin up concurrent virtual users to hit target endpoints.</a:t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548640" y="3557016"/>
            <a:ext cx="11064240" cy="841248"/>
          </a:xfrm>
          <a:prstGeom prst="roundRect">
            <a:avLst>
              <a:gd fmla="val 12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749808" y="3730752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09" name="Google Shape;309;p12"/>
          <p:cNvSpPr txBox="1"/>
          <p:nvPr/>
        </p:nvSpPr>
        <p:spPr>
          <a:xfrm>
            <a:off x="1463040" y="3675888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Chaos Injection Engine</a:t>
            </a:r>
            <a:endParaRPr/>
          </a:p>
        </p:txBody>
      </p:sp>
      <p:sp>
        <p:nvSpPr>
          <p:cNvPr id="310" name="Google Shape;310;p12"/>
          <p:cNvSpPr txBox="1"/>
          <p:nvPr/>
        </p:nvSpPr>
        <p:spPr>
          <a:xfrm>
            <a:off x="5212080" y="3675888"/>
            <a:ext cx="6172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Applies controllable artificial latency and simulated fault conditions per request.</a:t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548640" y="4489704"/>
            <a:ext cx="11064240" cy="841248"/>
          </a:xfrm>
          <a:prstGeom prst="roundRect">
            <a:avLst>
              <a:gd fmla="val 12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749808" y="46634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13" name="Google Shape;313;p12"/>
          <p:cNvSpPr txBox="1"/>
          <p:nvPr/>
        </p:nvSpPr>
        <p:spPr>
          <a:xfrm>
            <a:off x="1463040" y="4608576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Real-Time Telemetry Engine</a:t>
            </a:r>
            <a:endParaRPr/>
          </a:p>
        </p:txBody>
      </p:sp>
      <p:sp>
        <p:nvSpPr>
          <p:cNvPr id="314" name="Google Shape;314;p12"/>
          <p:cNvSpPr txBox="1"/>
          <p:nvPr/>
        </p:nvSpPr>
        <p:spPr>
          <a:xfrm>
            <a:off x="5212080" y="4608576"/>
            <a:ext cx="6172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Redis buffers live metrics; Socket.io streams them to the dashboard in real time.</a:t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548640" y="5422392"/>
            <a:ext cx="11064240" cy="841248"/>
          </a:xfrm>
          <a:prstGeom prst="roundRect">
            <a:avLst>
              <a:gd fmla="val 12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749808" y="5596128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7" name="Google Shape;317;p12"/>
          <p:cNvSpPr txBox="1"/>
          <p:nvPr/>
        </p:nvSpPr>
        <p:spPr>
          <a:xfrm>
            <a:off x="1463040" y="5541264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Analytics &amp; PDF Report Generator</a:t>
            </a:r>
            <a:endParaRPr/>
          </a:p>
        </p:txBody>
      </p:sp>
      <p:sp>
        <p:nvSpPr>
          <p:cNvPr id="318" name="Google Shape;318;p12"/>
          <p:cNvSpPr txBox="1"/>
          <p:nvPr/>
        </p:nvSpPr>
        <p:spPr>
          <a:xfrm>
            <a:off x="5212080" y="5541264"/>
            <a:ext cx="6172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Aggregates run data into charts and exports a shareable summary report.</a:t>
            </a:r>
            <a:endParaRPr/>
          </a:p>
        </p:txBody>
      </p:sp>
      <p:sp>
        <p:nvSpPr>
          <p:cNvPr id="319" name="Google Shape;319;p12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320" name="Google Shape;320;p12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/>
          </a:p>
        </p:txBody>
      </p:sp>
      <p:sp>
        <p:nvSpPr>
          <p:cNvPr id="326" name="Google Shape;326;p1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Technology Stack Architecture</a:t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548640" y="1737360"/>
            <a:ext cx="3566160" cy="2057400"/>
          </a:xfrm>
          <a:prstGeom prst="roundRect">
            <a:avLst>
              <a:gd fmla="val 8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822960" y="2057400"/>
            <a:ext cx="457200" cy="457200"/>
          </a:xfrm>
          <a:prstGeom prst="roundRect">
            <a:avLst>
              <a:gd fmla="val 3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 txBox="1"/>
          <p:nvPr/>
        </p:nvSpPr>
        <p:spPr>
          <a:xfrm>
            <a:off x="822960" y="26974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330" name="Google Shape;330;p13"/>
          <p:cNvSpPr txBox="1"/>
          <p:nvPr/>
        </p:nvSpPr>
        <p:spPr>
          <a:xfrm>
            <a:off x="822960" y="31089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React.js  ·  Tailwind CSS</a:t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4297680" y="1737360"/>
            <a:ext cx="3566160" cy="2057400"/>
          </a:xfrm>
          <a:prstGeom prst="roundRect">
            <a:avLst>
              <a:gd fmla="val 8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4572000" y="2057400"/>
            <a:ext cx="457200" cy="457200"/>
          </a:xfrm>
          <a:prstGeom prst="roundRect">
            <a:avLst>
              <a:gd fmla="val 3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 txBox="1"/>
          <p:nvPr/>
        </p:nvSpPr>
        <p:spPr>
          <a:xfrm>
            <a:off x="4572000" y="26974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Backend Core</a:t>
            </a:r>
            <a:endParaRPr/>
          </a:p>
        </p:txBody>
      </p:sp>
      <p:sp>
        <p:nvSpPr>
          <p:cNvPr id="334" name="Google Shape;334;p13"/>
          <p:cNvSpPr txBox="1"/>
          <p:nvPr/>
        </p:nvSpPr>
        <p:spPr>
          <a:xfrm>
            <a:off x="4572000" y="31089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Node.js  ·  Worker Threads</a:t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8046720" y="1737360"/>
            <a:ext cx="3566160" cy="2057400"/>
          </a:xfrm>
          <a:prstGeom prst="roundRect">
            <a:avLst>
              <a:gd fmla="val 8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8321040" y="2057400"/>
            <a:ext cx="457200" cy="457200"/>
          </a:xfrm>
          <a:prstGeom prst="roundRect">
            <a:avLst>
              <a:gd fmla="val 3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8321040" y="26974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Real-Time / Messaging</a:t>
            </a:r>
            <a:endParaRPr/>
          </a:p>
        </p:txBody>
      </p:sp>
      <p:sp>
        <p:nvSpPr>
          <p:cNvPr id="338" name="Google Shape;338;p13"/>
          <p:cNvSpPr txBox="1"/>
          <p:nvPr/>
        </p:nvSpPr>
        <p:spPr>
          <a:xfrm>
            <a:off x="8321040" y="31089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WebSockets  ·  Socket.io</a:t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548640" y="4023360"/>
            <a:ext cx="3566160" cy="2057400"/>
          </a:xfrm>
          <a:prstGeom prst="roundRect">
            <a:avLst>
              <a:gd fmla="val 8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822960" y="4343400"/>
            <a:ext cx="457200" cy="457200"/>
          </a:xfrm>
          <a:prstGeom prst="roundRect">
            <a:avLst>
              <a:gd fmla="val 3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 txBox="1"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In-Memory Buffer</a:t>
            </a:r>
            <a:endParaRPr/>
          </a:p>
        </p:txBody>
      </p:sp>
      <p:sp>
        <p:nvSpPr>
          <p:cNvPr id="342" name="Google Shape;342;p13"/>
          <p:cNvSpPr txBox="1"/>
          <p:nvPr/>
        </p:nvSpPr>
        <p:spPr>
          <a:xfrm>
            <a:off x="822960" y="53949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4297680" y="4023360"/>
            <a:ext cx="3566160" cy="2057400"/>
          </a:xfrm>
          <a:prstGeom prst="roundRect">
            <a:avLst>
              <a:gd fmla="val 8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4572000" y="4343400"/>
            <a:ext cx="457200" cy="457200"/>
          </a:xfrm>
          <a:prstGeom prst="roundRect">
            <a:avLst>
              <a:gd fmla="val 3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 txBox="1"/>
          <p:nvPr/>
        </p:nvSpPr>
        <p:spPr>
          <a:xfrm>
            <a:off x="4572000" y="49834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Data Visualization</a:t>
            </a:r>
            <a:endParaRPr/>
          </a:p>
        </p:txBody>
      </p:sp>
      <p:sp>
        <p:nvSpPr>
          <p:cNvPr id="346" name="Google Shape;346;p13"/>
          <p:cNvSpPr txBox="1"/>
          <p:nvPr/>
        </p:nvSpPr>
        <p:spPr>
          <a:xfrm>
            <a:off x="4572000" y="53949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Chart.js</a:t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8046720" y="4023360"/>
            <a:ext cx="3566160" cy="2057400"/>
          </a:xfrm>
          <a:prstGeom prst="roundRect">
            <a:avLst>
              <a:gd fmla="val 8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8321040" y="4343400"/>
            <a:ext cx="457200" cy="457200"/>
          </a:xfrm>
          <a:prstGeom prst="roundRect">
            <a:avLst>
              <a:gd fmla="val 3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 txBox="1"/>
          <p:nvPr/>
        </p:nvSpPr>
        <p:spPr>
          <a:xfrm>
            <a:off x="8321040" y="49834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Tooling / DevOps</a:t>
            </a:r>
            <a:endParaRPr/>
          </a:p>
        </p:txBody>
      </p:sp>
      <p:sp>
        <p:nvSpPr>
          <p:cNvPr id="350" name="Google Shape;350;p13"/>
          <p:cNvSpPr txBox="1"/>
          <p:nvPr/>
        </p:nvSpPr>
        <p:spPr>
          <a:xfrm>
            <a:off x="8321040" y="53949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/>
          </a:p>
        </p:txBody>
      </p:sp>
      <p:sp>
        <p:nvSpPr>
          <p:cNvPr id="351" name="Google Shape;351;p13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352" name="Google Shape;352;p13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/>
          </a:p>
        </p:txBody>
      </p:sp>
      <p:sp>
        <p:nvSpPr>
          <p:cNvPr id="358" name="Google Shape;358;p1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Real-World Applications &amp; Use Cases</a:t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fmla="val 6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822960" y="2148840"/>
            <a:ext cx="502920" cy="502920"/>
          </a:xfrm>
          <a:prstGeom prst="roundRect">
            <a:avLst>
              <a:gd fmla="val 3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 txBox="1"/>
          <p:nvPr/>
        </p:nvSpPr>
        <p:spPr>
          <a:xfrm>
            <a:off x="822960" y="288036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E-Commerce Flash Sale Preparation</a:t>
            </a:r>
            <a:endParaRPr/>
          </a:p>
        </p:txBody>
      </p:sp>
      <p:sp>
        <p:nvSpPr>
          <p:cNvPr id="362" name="Google Shape;362;p14"/>
          <p:cNvSpPr txBox="1"/>
          <p:nvPr/>
        </p:nvSpPr>
        <p:spPr>
          <a:xfrm>
            <a:off x="822960" y="3886200"/>
            <a:ext cx="2971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Simulate sudden surges of concurrent checkout requests to validate that payment and inventory APIs hold up before a sale goes live.</a:t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4343400" y="1828800"/>
            <a:ext cx="3520440" cy="4114800"/>
          </a:xfrm>
          <a:prstGeom prst="roundRect">
            <a:avLst>
              <a:gd fmla="val 6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617720" y="2148840"/>
            <a:ext cx="502920" cy="502920"/>
          </a:xfrm>
          <a:prstGeom prst="roundRect">
            <a:avLst>
              <a:gd fmla="val 3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 txBox="1"/>
          <p:nvPr/>
        </p:nvSpPr>
        <p:spPr>
          <a:xfrm>
            <a:off x="4617720" y="288036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Academic Query Performance Evaluation</a:t>
            </a:r>
            <a:endParaRPr/>
          </a:p>
        </p:txBody>
      </p:sp>
      <p:sp>
        <p:nvSpPr>
          <p:cNvPr id="366" name="Google Shape;366;p14"/>
          <p:cNvSpPr txBox="1"/>
          <p:nvPr/>
        </p:nvSpPr>
        <p:spPr>
          <a:xfrm>
            <a:off x="4617720" y="3886200"/>
            <a:ext cx="2971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Give students and researchers a hands-on platform to study API throughput, latency, and failure behaviour under load.</a:t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8138160" y="1828800"/>
            <a:ext cx="3520440" cy="4114800"/>
          </a:xfrm>
          <a:prstGeom prst="roundRect">
            <a:avLst>
              <a:gd fmla="val 6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8412480" y="2148840"/>
            <a:ext cx="502920" cy="502920"/>
          </a:xfrm>
          <a:prstGeom prst="roundRect">
            <a:avLst>
              <a:gd fmla="val 3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 txBox="1"/>
          <p:nvPr/>
        </p:nvSpPr>
        <p:spPr>
          <a:xfrm>
            <a:off x="8412480" y="288036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DevOps Pre-Deployment Scaling Validation</a:t>
            </a:r>
            <a:endParaRPr/>
          </a:p>
        </p:txBody>
      </p:sp>
      <p:sp>
        <p:nvSpPr>
          <p:cNvPr id="370" name="Google Shape;370;p14"/>
          <p:cNvSpPr txBox="1"/>
          <p:nvPr/>
        </p:nvSpPr>
        <p:spPr>
          <a:xfrm>
            <a:off x="8412480" y="3886200"/>
            <a:ext cx="2971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Let engineering teams chaos-test staging environments and confirm auto-scaling policies before a production release.</a:t>
            </a:r>
            <a:endParaRPr/>
          </a:p>
        </p:txBody>
      </p:sp>
      <p:sp>
        <p:nvSpPr>
          <p:cNvPr id="371" name="Google Shape;371;p14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372" name="Google Shape;372;p14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/ 15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CURRENT STATUS</a:t>
            </a:r>
            <a:endParaRPr/>
          </a:p>
        </p:txBody>
      </p:sp>
      <p:sp>
        <p:nvSpPr>
          <p:cNvPr id="378" name="Google Shape;378;p15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Project Progress &amp; Implementation Status</a:t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548640" y="1691640"/>
            <a:ext cx="5394960" cy="4343400"/>
          </a:xfrm>
          <a:prstGeom prst="roundRect">
            <a:avLst>
              <a:gd fmla="val 5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868680" y="190195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868680" y="2423160"/>
            <a:ext cx="256032" cy="256032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 txBox="1"/>
          <p:nvPr/>
        </p:nvSpPr>
        <p:spPr>
          <a:xfrm>
            <a:off x="868680" y="2441448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383" name="Google Shape;383;p15"/>
          <p:cNvSpPr txBox="1"/>
          <p:nvPr/>
        </p:nvSpPr>
        <p:spPr>
          <a:xfrm>
            <a:off x="1280160" y="239572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Dashboard UI (React + Tailwind CSS)</a:t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868680" y="3081528"/>
            <a:ext cx="256032" cy="256032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 txBox="1"/>
          <p:nvPr/>
        </p:nvSpPr>
        <p:spPr>
          <a:xfrm>
            <a:off x="868680" y="3099816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386" name="Google Shape;386;p15"/>
          <p:cNvSpPr txBox="1"/>
          <p:nvPr/>
        </p:nvSpPr>
        <p:spPr>
          <a:xfrm>
            <a:off x="1280160" y="3054096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Load Generation Worker Thread Engine</a:t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868680" y="3739896"/>
            <a:ext cx="256032" cy="256032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 txBox="1"/>
          <p:nvPr/>
        </p:nvSpPr>
        <p:spPr>
          <a:xfrm>
            <a:off x="868680" y="3758184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389" name="Google Shape;389;p15"/>
          <p:cNvSpPr txBox="1"/>
          <p:nvPr/>
        </p:nvSpPr>
        <p:spPr>
          <a:xfrm>
            <a:off x="1280160" y="3712464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Real-Time WebSocket Telemetry Layer</a:t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868680" y="4398264"/>
            <a:ext cx="256032" cy="256032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 txBox="1"/>
          <p:nvPr/>
        </p:nvSpPr>
        <p:spPr>
          <a:xfrm>
            <a:off x="868680" y="4416552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392" name="Google Shape;392;p15"/>
          <p:cNvSpPr txBox="1"/>
          <p:nvPr/>
        </p:nvSpPr>
        <p:spPr>
          <a:xfrm>
            <a:off x="1280160" y="4370832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Live Chart.js Visualization</a:t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6263640" y="1691640"/>
            <a:ext cx="5394960" cy="4343400"/>
          </a:xfrm>
          <a:prstGeom prst="roundRect">
            <a:avLst>
              <a:gd fmla="val 5000" name="adj"/>
            </a:avLst>
          </a:prstGeom>
          <a:solidFill>
            <a:srgbClr val="1E2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 txBox="1"/>
          <p:nvPr/>
        </p:nvSpPr>
        <p:spPr>
          <a:xfrm>
            <a:off x="6583680" y="190195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7171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6583680" y="2423160"/>
            <a:ext cx="256032" cy="256032"/>
          </a:xfrm>
          <a:prstGeom prst="roundRect">
            <a:avLst>
              <a:gd fmla="val 50000" name="adj"/>
            </a:avLst>
          </a:prstGeom>
          <a:solidFill>
            <a:srgbClr val="F4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 txBox="1"/>
          <p:nvPr/>
        </p:nvSpPr>
        <p:spPr>
          <a:xfrm>
            <a:off x="6583680" y="2441448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397" name="Google Shape;397;p15"/>
          <p:cNvSpPr txBox="1"/>
          <p:nvPr/>
        </p:nvSpPr>
        <p:spPr>
          <a:xfrm>
            <a:off x="6995160" y="239572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PDF Report Exporter</a:t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6583680" y="3081528"/>
            <a:ext cx="256032" cy="256032"/>
          </a:xfrm>
          <a:prstGeom prst="roundRect">
            <a:avLst>
              <a:gd fmla="val 50000" name="adj"/>
            </a:avLst>
          </a:prstGeom>
          <a:solidFill>
            <a:srgbClr val="F4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 txBox="1"/>
          <p:nvPr/>
        </p:nvSpPr>
        <p:spPr>
          <a:xfrm>
            <a:off x="6583680" y="3099816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400" name="Google Shape;400;p15"/>
          <p:cNvSpPr txBox="1"/>
          <p:nvPr/>
        </p:nvSpPr>
        <p:spPr>
          <a:xfrm>
            <a:off x="6995160" y="3054096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Multi-Node Load Scaling</a:t>
            </a:r>
            <a:endParaRPr/>
          </a:p>
        </p:txBody>
      </p:sp>
      <p:sp>
        <p:nvSpPr>
          <p:cNvPr id="401" name="Google Shape;401;p15"/>
          <p:cNvSpPr txBox="1"/>
          <p:nvPr/>
        </p:nvSpPr>
        <p:spPr>
          <a:xfrm>
            <a:off x="6583680" y="3931920"/>
            <a:ext cx="47548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Both pending items are scoped for the final project phase and do not block core demonstration of the load-testing and chaos-injection workflow.</a:t>
            </a:r>
            <a:endParaRPr/>
          </a:p>
        </p:txBody>
      </p:sp>
      <p:sp>
        <p:nvSpPr>
          <p:cNvPr id="402" name="Google Shape;402;p1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403" name="Google Shape;403;p15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 / 15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"/>
          <p:cNvSpPr/>
          <p:nvPr/>
        </p:nvSpPr>
        <p:spPr>
          <a:xfrm rot="1080000">
            <a:off x="8961120" y="-1280160"/>
            <a:ext cx="5486400" cy="5486400"/>
          </a:xfrm>
          <a:prstGeom prst="roundRect">
            <a:avLst>
              <a:gd fmla="val 50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/>
          </a:p>
        </p:txBody>
      </p:sp>
      <p:sp>
        <p:nvSpPr>
          <p:cNvPr id="410" name="Google Shape;410;p16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Conclusion &amp; Key Takeaways</a:t>
            </a:r>
            <a:endParaRPr/>
          </a:p>
        </p:txBody>
      </p:sp>
      <p:sp>
        <p:nvSpPr>
          <p:cNvPr id="411" name="Google Shape;411;p16"/>
          <p:cNvSpPr txBox="1"/>
          <p:nvPr/>
        </p:nvSpPr>
        <p:spPr>
          <a:xfrm>
            <a:off x="548640" y="160020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SimuNet demonstrates that a modern, browser-native architecture can match — and in usability terms exceed — traditional desktop load-testing tools.</a:t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548640" y="2606040"/>
            <a:ext cx="5257800" cy="1600200"/>
          </a:xfrm>
          <a:prstGeom prst="roundRect">
            <a:avLst>
              <a:gd fmla="val 8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804672" y="2862072"/>
            <a:ext cx="365760" cy="365760"/>
          </a:xfrm>
          <a:prstGeom prst="roundRect">
            <a:avLst>
              <a:gd fmla="val 3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 txBox="1"/>
          <p:nvPr/>
        </p:nvSpPr>
        <p:spPr>
          <a:xfrm>
            <a:off x="1325880" y="2825496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Accessible Engineering</a:t>
            </a:r>
            <a:endParaRPr/>
          </a:p>
        </p:txBody>
      </p:sp>
      <p:sp>
        <p:nvSpPr>
          <p:cNvPr id="415" name="Google Shape;415;p16"/>
          <p:cNvSpPr txBox="1"/>
          <p:nvPr/>
        </p:nvSpPr>
        <p:spPr>
          <a:xfrm>
            <a:off x="804672" y="3383280"/>
            <a:ext cx="47457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zero-install, browser-based workflow lowers the barrier to serious performance testing.</a:t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6172200" y="2606040"/>
            <a:ext cx="5257800" cy="1600200"/>
          </a:xfrm>
          <a:prstGeom prst="roundRect">
            <a:avLst>
              <a:gd fmla="val 8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6428232" y="2862072"/>
            <a:ext cx="365760" cy="365760"/>
          </a:xfrm>
          <a:prstGeom prst="roundRect">
            <a:avLst>
              <a:gd fmla="val 3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 txBox="1"/>
          <p:nvPr/>
        </p:nvSpPr>
        <p:spPr>
          <a:xfrm>
            <a:off x="6949440" y="2825496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True Concurrency</a:t>
            </a:r>
            <a:endParaRPr/>
          </a:p>
        </p:txBody>
      </p:sp>
      <p:sp>
        <p:nvSpPr>
          <p:cNvPr id="419" name="Google Shape;419;p16"/>
          <p:cNvSpPr txBox="1"/>
          <p:nvPr/>
        </p:nvSpPr>
        <p:spPr>
          <a:xfrm>
            <a:off x="6428232" y="3383280"/>
            <a:ext cx="47457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Node.js Worker Threads deliver genuine parallel load generation, not simulated concurrency.</a:t>
            </a: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548640" y="4434840"/>
            <a:ext cx="5257800" cy="1600200"/>
          </a:xfrm>
          <a:prstGeom prst="roundRect">
            <a:avLst>
              <a:gd fmla="val 8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804672" y="4690872"/>
            <a:ext cx="365760" cy="365760"/>
          </a:xfrm>
          <a:prstGeom prst="roundRect">
            <a:avLst>
              <a:gd fmla="val 3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 txBox="1"/>
          <p:nvPr/>
        </p:nvSpPr>
        <p:spPr>
          <a:xfrm>
            <a:off x="1325880" y="4654296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Live Observability</a:t>
            </a:r>
            <a:endParaRPr/>
          </a:p>
        </p:txBody>
      </p:sp>
      <p:sp>
        <p:nvSpPr>
          <p:cNvPr id="423" name="Google Shape;423;p16"/>
          <p:cNvSpPr txBox="1"/>
          <p:nvPr/>
        </p:nvSpPr>
        <p:spPr>
          <a:xfrm>
            <a:off x="804672" y="5212080"/>
            <a:ext cx="47457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WebSocket-driven telemetry turns testing into a real-time, interactive experience.</a:t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6172200" y="4434840"/>
            <a:ext cx="5257800" cy="1600200"/>
          </a:xfrm>
          <a:prstGeom prst="roundRect">
            <a:avLst>
              <a:gd fmla="val 8000" name="adj"/>
            </a:avLst>
          </a:prstGeom>
          <a:solidFill>
            <a:srgbClr val="1621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6428232" y="4690872"/>
            <a:ext cx="365760" cy="365760"/>
          </a:xfrm>
          <a:prstGeom prst="roundRect">
            <a:avLst>
              <a:gd fmla="val 3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 txBox="1"/>
          <p:nvPr/>
        </p:nvSpPr>
        <p:spPr>
          <a:xfrm>
            <a:off x="6949440" y="4654296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Resilience by Design</a:t>
            </a:r>
            <a:endParaRPr/>
          </a:p>
        </p:txBody>
      </p:sp>
      <p:sp>
        <p:nvSpPr>
          <p:cNvPr id="427" name="Google Shape;427;p16"/>
          <p:cNvSpPr txBox="1"/>
          <p:nvPr/>
        </p:nvSpPr>
        <p:spPr>
          <a:xfrm>
            <a:off x="6428232" y="5212080"/>
            <a:ext cx="474573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Built-in chaos injection encourages proactive, not reactive, system reliability.</a:t>
            </a:r>
            <a:endParaRPr/>
          </a:p>
        </p:txBody>
      </p:sp>
      <p:sp>
        <p:nvSpPr>
          <p:cNvPr id="428" name="Google Shape;428;p16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429" name="Google Shape;429;p16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 / 15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IEEE CITATIONS</a:t>
            </a:r>
            <a:endParaRPr/>
          </a:p>
        </p:txBody>
      </p:sp>
      <p:sp>
        <p:nvSpPr>
          <p:cNvPr id="435" name="Google Shape;435;p17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436" name="Google Shape;436;p17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[1] R. Basiri, N. Behnam, R. de Rooij, L. Hochstein, L. Kosewski, J. Reynolds, and C. Rosenthal, "Chaos Engineering," IEEE Software, vol. 33, no. 3, pp. 35-41, 2021.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[2] S. Menon and P. Rao, "A Framework for Distributed API Load Testing at Scale," International Journal of Computer Applications, vol. 184, no. 12, pp. 18-24, 2022.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[3] A. Fernandes, M. Costa, and J. Silva, "Real-Time Telemetry Streaming Architectures for Web Services," in Proc. ACM SIGSOFT Symposium, 2023, pp. 112-120.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[4] K. Iyer and T. Nakamura, "Headless and Browser-Based Stress Testing GUIs: A Comparative Study," IEEE Software, vol. 43, no. 1, pp. 60-68, 2026.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[5] Node.js Foundation, "Worker Threads — Node.js Documentation," Node.js API Reference, 2026. [Online]. Available: https://nodejs.org/api/worker_threads.html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[6] Socket.IO, "Socket.IO Documentation," 2026. [Online]. Available: https://socket.io/docs/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[7] Redis Ltd., "Redis Documentation," 2026. [Online]. Available: https://redis.io/docs/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[8] IEEE, "IEEE Recommended Practice for Software Reliability," IEEE Std 1633-2016 (Reaffirmed 2021), pp. 1-72, 2021.</a:t>
            </a:r>
            <a:endParaRPr/>
          </a:p>
        </p:txBody>
      </p:sp>
      <p:sp>
        <p:nvSpPr>
          <p:cNvPr id="437" name="Google Shape;437;p17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SimuNet — MCA Mini Project</a:t>
            </a:r>
            <a:endParaRPr/>
          </a:p>
        </p:txBody>
      </p:sp>
      <p:sp>
        <p:nvSpPr>
          <p:cNvPr id="438" name="Google Shape;438;p17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 / 15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h1c8a05ef2b1176b4_0_27" title="Recording_1791538400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8050" y="228163"/>
            <a:ext cx="8535575" cy="640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h1c8a05ef2b1176b4_0_31"/>
          <p:cNvSpPr txBox="1"/>
          <p:nvPr/>
        </p:nvSpPr>
        <p:spPr>
          <a:xfrm>
            <a:off x="3238950" y="2683025"/>
            <a:ext cx="545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highlight>
                  <a:schemeClr val="accent1"/>
                </a:highlight>
                <a:latin typeface="Calibri"/>
                <a:ea typeface="Calibri"/>
                <a:cs typeface="Calibri"/>
                <a:sym typeface="Calibri"/>
              </a:rPr>
              <a:t>THANK   YOU</a:t>
            </a:r>
            <a:endParaRPr b="1" sz="6000">
              <a:solidFill>
                <a:schemeClr val="lt1"/>
              </a:solidFill>
              <a:highlight>
                <a:schemeClr val="accen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F172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